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Beck" userId="410b00d8d9430b8f" providerId="LiveId" clId="{8F3AC99E-F81E-5A92-96BD-E29071EF88A3}"/>
    <pc:docChg chg="modSld">
      <pc:chgData name="Jon Beck" userId="410b00d8d9430b8f" providerId="LiveId" clId="{8F3AC99E-F81E-5A92-96BD-E29071EF88A3}" dt="2026-03-10T18:25:37.011" v="0" actId="14100"/>
      <pc:docMkLst>
        <pc:docMk/>
      </pc:docMkLst>
      <pc:sldChg chg="modSp mod">
        <pc:chgData name="Jon Beck" userId="410b00d8d9430b8f" providerId="LiveId" clId="{8F3AC99E-F81E-5A92-96BD-E29071EF88A3}" dt="2026-03-10T18:25:37.011" v="0" actId="14100"/>
        <pc:sldMkLst>
          <pc:docMk/>
          <pc:sldMk cId="0" sldId="263"/>
        </pc:sldMkLst>
        <pc:picChg chg="mod">
          <ac:chgData name="Jon Beck" userId="410b00d8d9430b8f" providerId="LiveId" clId="{8F3AC99E-F81E-5A92-96BD-E29071EF88A3}" dt="2026-03-10T18:25:37.011" v="0" actId="14100"/>
          <ac:picMkLst>
            <pc:docMk/>
            <pc:sldMk cId="0" sldId="263"/>
            <ac:picMk id="10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read through report</a:t>
            </a: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dd170b0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dd170b0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read through report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dd170b0b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dd170b0b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dd170b0b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dd170b0b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dd170b0b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dd170b0b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dd170b0b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dd170b0b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dd170b0b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dd170b0b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Light smoothing keeps probabilities close to raw terms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dd170b0b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dd170b0b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Downside: difficult looking "far back" in sequence: hard for model to use information from many time steps earlier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dd170b0b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dd170b0b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dd170b0b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dd170b0b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dd170b0b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dd170b0b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dd170b0b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dd170b0b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Option 1">
  <p:cSld name="Title Slide - Option 1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descr="A close up of a sig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50704" y="495088"/>
            <a:ext cx="8389575" cy="244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50704" y="3167505"/>
            <a:ext cx="8389575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524000" y="1599247"/>
            <a:ext cx="9143999" cy="191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Areas">
  <p:cSld name="Two Content Area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181599" cy="343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172199" y="1825625"/>
            <a:ext cx="5181599" cy="343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with Subtitles">
  <p:cSld name="Two Columns with Subtitle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6612" y="2505075"/>
            <a:ext cx="5176884" cy="276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6172200" y="1711496"/>
            <a:ext cx="5186362" cy="79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3"/>
          </p:nvPr>
        </p:nvSpPr>
        <p:spPr>
          <a:xfrm>
            <a:off x="6178505" y="2505075"/>
            <a:ext cx="5180057" cy="276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4"/>
          </p:nvPr>
        </p:nvSpPr>
        <p:spPr>
          <a:xfrm>
            <a:off x="836614" y="1712639"/>
            <a:ext cx="5183187" cy="79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57717" y="545091"/>
            <a:ext cx="5393266" cy="44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2"/>
          </p:nvPr>
        </p:nvSpPr>
        <p:spPr>
          <a:xfrm>
            <a:off x="6231467" y="545092"/>
            <a:ext cx="5393266" cy="4414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with Caption">
  <p:cSld name="Photo with 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>
            <a:spLocks noGrp="1"/>
          </p:cNvSpPr>
          <p:nvPr>
            <p:ph type="pic" idx="2"/>
          </p:nvPr>
        </p:nvSpPr>
        <p:spPr>
          <a:xfrm rot="344365">
            <a:off x="765923" y="687338"/>
            <a:ext cx="10591524" cy="3491307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88489" y="4486019"/>
            <a:ext cx="10816984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- Option 1">
  <p:cSld name="Closing Slide - Option 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 descr="A picture containing water, comput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9" descr="A picture containing bri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Option 2">
  <p:cSld name="Title Slide - Option 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0" descr="A picture containing bir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0" descr="A picture containing bi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690040" y="1204857"/>
            <a:ext cx="10799595" cy="191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99248" y="3324431"/>
            <a:ext cx="1077178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- Option 2">
  <p:cSld name="Closing Slide - Option 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 descr="A picture containing screenshot, bir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5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11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A picture containing screensho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descr="A close up of a logo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ctrTitle"/>
          </p:nvPr>
        </p:nvSpPr>
        <p:spPr>
          <a:xfrm>
            <a:off x="3150704" y="495088"/>
            <a:ext cx="8389575" cy="244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/>
              <a:t>TEXT CLASSIFICATION WITH MACHINE LEARNING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3150704" y="1493687"/>
            <a:ext cx="8389575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r>
              <a:rPr lang="en-US" i="1"/>
              <a:t>Predicting News Article Topics Using Linear Models, RNNs, and Transformers</a:t>
            </a:r>
            <a:endParaRPr i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endParaRPr i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None/>
            </a:pPr>
            <a:r>
              <a:rPr lang="en-US" sz="2400">
                <a:solidFill>
                  <a:schemeClr val="lt1"/>
                </a:solidFill>
              </a:rPr>
              <a:t>By: Jonathan Beck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53" name="Google Shape;53;p12" title="Screenshot 2026-03-07 at 11.13.3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775" y="3246287"/>
            <a:ext cx="3310982" cy="330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Why This Problem Matters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Organizations ingest massive volumes of text every day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Manual labeling is slow, inconsistent, and expensive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Automated topic classification improves:</a:t>
            </a:r>
            <a:endParaRPr sz="180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Content recommendation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News aggregation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Trend monitoring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User experience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Core Question: </a:t>
            </a:r>
            <a:r>
              <a:rPr lang="en-US" sz="1800" i="1"/>
              <a:t>"What modeling approach provides the optimal balance of accuracy, cost, and complexity for accurately classifying news articles?"</a:t>
            </a:r>
            <a:endParaRPr sz="1800" i="1"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326" cy="97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</a:pPr>
            <a:r>
              <a:rPr lang="en-US"/>
              <a:t>Business Problem &amp; Objectives</a:t>
            </a:r>
            <a:endParaRPr/>
          </a:p>
        </p:txBody>
      </p:sp>
      <p:pic>
        <p:nvPicPr>
          <p:cNvPr id="60" name="Google Shape;60;p13" title="Screenshot 2026-03-07 at 12.59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3424" y="1825623"/>
            <a:ext cx="3193651" cy="19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Build a clean and auditable preprocessing pipeline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Standardized text fields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Controlled feature variations (title-only vs description-only vs both)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Establish defensible baseline performance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Naive Bayes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Regularized Logistic Regression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Evaluate advanced architectures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LSTM-based RNN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RoBERTa Transformer (transfer learning)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Compare accuracy, runtime, and practicality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lphaLcPeriod"/>
            </a:pPr>
            <a:r>
              <a:rPr lang="en-US" sz="1800">
                <a:solidFill>
                  <a:srgbClr val="595959"/>
                </a:solidFill>
              </a:rPr>
              <a:t>Identify the "best" model for </a:t>
            </a:r>
            <a:r>
              <a:rPr lang="en-US" sz="1800" i="1">
                <a:solidFill>
                  <a:srgbClr val="595959"/>
                </a:solidFill>
              </a:rPr>
              <a:t>real-world deployment</a:t>
            </a:r>
            <a:r>
              <a:rPr lang="en-US" sz="1800">
                <a:solidFill>
                  <a:srgbClr val="595959"/>
                </a:solidFill>
              </a:rPr>
              <a:t>, not just accuracy.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Goals</a:t>
            </a:r>
            <a:endParaRPr/>
          </a:p>
        </p:txBody>
      </p:sp>
      <p:pic>
        <p:nvPicPr>
          <p:cNvPr id="67" name="Google Shape;67;p14" title="Screenshot 2026-03-07 at 1.05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1325" y="1690625"/>
            <a:ext cx="3048324" cy="332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AG News Dataset (Kaggle)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120,000 training articles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7,600 test articles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Perfectly balances across four classes: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World, Sports, Business, Sci/Tech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Key Properties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No missing values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Structured text fields</a:t>
            </a:r>
            <a:endParaRPr sz="1800">
              <a:solidFill>
                <a:srgbClr val="595959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■"/>
            </a:pPr>
            <a:r>
              <a:rPr lang="en-US" sz="1800">
                <a:solidFill>
                  <a:srgbClr val="595959"/>
                </a:solidFill>
              </a:rPr>
              <a:t>Titles = short, sparse signals</a:t>
            </a:r>
            <a:endParaRPr sz="1800">
              <a:solidFill>
                <a:srgbClr val="595959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■"/>
            </a:pPr>
            <a:r>
              <a:rPr lang="en-US" sz="1800">
                <a:solidFill>
                  <a:srgbClr val="595959"/>
                </a:solidFill>
              </a:rPr>
              <a:t>Descriptions = richer, more informative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Overview</a:t>
            </a:r>
            <a:endParaRPr/>
          </a:p>
        </p:txBody>
      </p:sp>
      <p:pic>
        <p:nvPicPr>
          <p:cNvPr id="74" name="Google Shape;74;p15" title="Screenshot 2026-03-07 at 1.07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2550" y="1690619"/>
            <a:ext cx="3370175" cy="33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Naive Bayes (TF-IDF)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Text normalization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Unigram + bigram tokenization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Stop-word removal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Vocabulary capped at 30K, ranked by term frequency across corpus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determines number of columns in feature matrix (regularization control)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TF-IDF Weighting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Higher score implies token is important to document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Downweights tokens found frequently across corpus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L2 normalization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ensures model not biased by document length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Sparse matrix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Shape (n_documents, 30K)</a:t>
            </a:r>
            <a:endParaRPr sz="1800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&amp; Design: Baseline Models</a:t>
            </a:r>
            <a:endParaRPr/>
          </a:p>
        </p:txBody>
      </p:sp>
      <p:pic>
        <p:nvPicPr>
          <p:cNvPr id="81" name="Google Shape;81;p16" title="Screenshot 2026-03-07 at 4.42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475" y="3934524"/>
            <a:ext cx="4191876" cy="16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Logistic Regression (TF-IDF)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Similar text preprocessing as Naive Bayes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Two stage 5-Fold Stratified Cross Validation Grid Search to speed up training and fine-tuning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First Stage: Fine-tune logistic regression parameters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Unigrams + top 20K features</a:t>
            </a:r>
            <a:endParaRPr sz="1800">
              <a:solidFill>
                <a:srgbClr val="59595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en-US" sz="1800">
                <a:solidFill>
                  <a:srgbClr val="595959"/>
                </a:solidFill>
              </a:rPr>
              <a:t>Solver set to lbfgs (well-suited for high dimensional spaces), L2 (ridge) penalty term and a search through four regularization, C, terms to control how heavily the model penalizes large weights on the features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Second Stage: Apply logistic parameters to determine optimal TFIDF column length and n-gram range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&amp; Design: Baseline Models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007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RNN (LSTM)</a:t>
            </a:r>
            <a:endParaRPr sz="1500"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All terms across corpus tokenized and normalized, token frequencies counted and ranked to assign IDs to each token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Top 30000 kept (number of embeddings learned across entire corpus - regularization)</a:t>
            </a:r>
            <a:endParaRPr sz="1500">
              <a:solidFill>
                <a:srgbClr val="595959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Sequence tokenization at embedding layer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200 tokens per input sequence (time steps per article)</a:t>
            </a:r>
            <a:endParaRPr sz="1500">
              <a:solidFill>
                <a:srgbClr val="595959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Shorter articles padded with zeros, longer articles truncated </a:t>
            </a:r>
            <a:endParaRPr sz="1500">
              <a:solidFill>
                <a:srgbClr val="595959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LSTM (128 units)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Compresses all text embeddings into single vector of length 128 to be fed into classification head</a:t>
            </a:r>
            <a:endParaRPr sz="150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&amp; Design: Deep Learning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6370725" y="1690625"/>
            <a:ext cx="4836000" cy="4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Transformer (RoBERTa)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Subword tokenization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-US">
                <a:solidFill>
                  <a:srgbClr val="595959"/>
                </a:solidFill>
              </a:rPr>
              <a:t>Smaller segments of words mapped to pretrained RoBERTa vocabulary, which effectively enables model to handle any word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Max-length: 128 tokens (article token input length, provided tokes IDs)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Start and end tokens applied (boundary signals).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-US">
                <a:solidFill>
                  <a:srgbClr val="595959"/>
                </a:solidFill>
              </a:rPr>
              <a:t>Enables use of first token embedding as summary vector (contextualized embedding for every token in article sequence)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Frozen pretrained backbone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768 neurons in dense feedforward network</a:t>
            </a:r>
            <a:endParaRPr>
              <a:solidFill>
                <a:srgbClr val="595959"/>
              </a:solidFill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-US">
                <a:solidFill>
                  <a:srgbClr val="595959"/>
                </a:solidFill>
              </a:rPr>
              <a:t>Weights updated with a light learning rate (3e-5)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Multinomial classification head (softmax)</a:t>
            </a:r>
            <a:endParaRPr>
              <a:solidFill>
                <a:srgbClr val="595959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-US">
                <a:solidFill>
                  <a:srgbClr val="595959"/>
                </a:solidFill>
              </a:rPr>
              <a:t>Early stopping (validation loss monitored, restore best weights if loss doesn't improve after two epochs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007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Naive Bayes</a:t>
            </a:r>
            <a:endParaRPr sz="1500"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Fast, interpretable, strong baseline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Best accuracy with title + description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Alpha = 0.1 performed best (light smoothing)</a:t>
            </a:r>
            <a:endParaRPr sz="15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Baseline Model Results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5538900" y="1690625"/>
            <a:ext cx="3828600" cy="27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95959"/>
                </a:solidFill>
              </a:rPr>
              <a:t>Logistic Regression</a:t>
            </a:r>
            <a:endParaRPr sz="1500">
              <a:solidFill>
                <a:srgbClr val="595959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-US" sz="1500">
                <a:solidFill>
                  <a:srgbClr val="595959"/>
                </a:solidFill>
              </a:rPr>
              <a:t>Outperformed Naive Bayes</a:t>
            </a:r>
            <a:endParaRPr sz="1500">
              <a:solidFill>
                <a:srgbClr val="595959"/>
              </a:solidFill>
            </a:endParaRPr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Accuracy of ~ 92% on holdout test set</a:t>
            </a:r>
            <a:endParaRPr sz="1500">
              <a:solidFill>
                <a:srgbClr val="595959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●"/>
            </a:pPr>
            <a:r>
              <a:rPr lang="en-US" sz="1500">
                <a:solidFill>
                  <a:srgbClr val="595959"/>
                </a:solidFill>
              </a:rPr>
              <a:t>Best configuration: {C=1, L2 penalty, 40K vocabulary, Unigrams + bigrams}</a:t>
            </a:r>
            <a:endParaRPr sz="1500">
              <a:solidFill>
                <a:srgbClr val="595959"/>
              </a:solidFill>
            </a:endParaRPr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Moderate shinkage of weights, prevents any weights being driven to zero entirely</a:t>
            </a:r>
            <a:endParaRPr sz="15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rgbClr val="595959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120675" y="4835925"/>
            <a:ext cx="10317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595959"/>
                </a:solidFill>
              </a:rPr>
              <a:t>Critical Insight: Combining text + description fields as predictors outperformed single-field models across the board.</a:t>
            </a:r>
            <a:endParaRPr sz="2200" b="1">
              <a:solidFill>
                <a:srgbClr val="595959"/>
              </a:solidFill>
            </a:endParaRPr>
          </a:p>
        </p:txBody>
      </p:sp>
      <p:pic>
        <p:nvPicPr>
          <p:cNvPr id="103" name="Google Shape;103;p19" title="Screenshot 2026-03-07 at 5.25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048" y="3098202"/>
            <a:ext cx="3012312" cy="1831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Screenshot 2026-03-07 at 5.41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99676" y="2154813"/>
            <a:ext cx="2771321" cy="225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74328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Why Use an RNN?</a:t>
            </a:r>
            <a:endParaRPr sz="1500"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Captures sequential structure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reads sequence of article token inputs step-by-step</a:t>
            </a:r>
            <a:endParaRPr sz="1500">
              <a:solidFill>
                <a:srgbClr val="595959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Learns contextual relationships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Single learned embedding representation of whole sequence fed into classification head</a:t>
            </a:r>
            <a:endParaRPr sz="1500">
              <a:solidFill>
                <a:srgbClr val="595959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Disadvantages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Struggle with long range dependencies </a:t>
            </a:r>
            <a:endParaRPr sz="150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Performance</a:t>
            </a:r>
            <a:endParaRPr sz="1500"/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Validation accuracy plateaued after 3 epochs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Similar to Logistic Regression in terms of accuracy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Char char="○"/>
            </a:pPr>
            <a:r>
              <a:rPr lang="en-US" sz="1500">
                <a:solidFill>
                  <a:srgbClr val="595959"/>
                </a:solidFill>
              </a:rPr>
              <a:t>Significantly higher training cost</a:t>
            </a:r>
            <a:endParaRPr sz="150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/>
              <a:t>Takeaway: RNNs add complexity without meaningful performance uplift for this classification task.</a:t>
            </a:r>
            <a:endParaRPr sz="15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RNN (LSTM) Results</a:t>
            </a:r>
            <a:endParaRPr/>
          </a:p>
        </p:txBody>
      </p:sp>
      <p:pic>
        <p:nvPicPr>
          <p:cNvPr id="111" name="Google Shape;111;p20" title="Screenshot 2026-03-07 at 5.49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2643" y="3103150"/>
            <a:ext cx="4579349" cy="18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Why RoBERTa?</a:t>
            </a:r>
            <a:endParaRPr sz="1900"/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Contextual embeddings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Learns long-range dependencies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Transfer learning: strong performance with limited training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Training Strategy</a:t>
            </a:r>
            <a:endParaRPr sz="1900"/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Frozen backbone + fine-tuned classification head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Early stopping after 3 epochs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Avoided full fine-tuning due to training cost: 45-minutes per epoch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Results</a:t>
            </a:r>
            <a:endParaRPr sz="1900"/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94% accuracy on unseen, test data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Balanced across all classes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Best overall performance.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Transformer (RoBERTa) Results</a:t>
            </a:r>
            <a:endParaRPr/>
          </a:p>
        </p:txBody>
      </p:sp>
      <p:pic>
        <p:nvPicPr>
          <p:cNvPr id="118" name="Google Shape;118;p21" title="Screenshot 2026-03-07 at 5.54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5906" y="1450737"/>
            <a:ext cx="3635175" cy="29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007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Text Field Choice Matters</a:t>
            </a:r>
            <a:endParaRPr sz="220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Title alone: limited signal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Descriptions: richer vocabulary, stronger boundaries</a:t>
            </a:r>
            <a:endParaRPr sz="22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○"/>
            </a:pPr>
            <a:r>
              <a:rPr lang="en-US" sz="2200">
                <a:solidFill>
                  <a:srgbClr val="595959"/>
                </a:solidFill>
              </a:rPr>
              <a:t>less overlap between class clusters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Combined fields: best performance across all models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Cross-Model Insights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6370725" y="1690625"/>
            <a:ext cx="5821200" cy="3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95959"/>
                </a:solidFill>
              </a:rPr>
              <a:t>Complexity vs Value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US" sz="2200">
                <a:solidFill>
                  <a:srgbClr val="595959"/>
                </a:solidFill>
              </a:rPr>
              <a:t>Logistic Regression</a:t>
            </a:r>
            <a:endParaRPr sz="2200">
              <a:solidFill>
                <a:srgbClr val="595959"/>
              </a:solidFill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○"/>
            </a:pPr>
            <a:r>
              <a:rPr lang="en-US" sz="2200">
                <a:solidFill>
                  <a:srgbClr val="595959"/>
                </a:solidFill>
              </a:rPr>
              <a:t>Fast, interpretable, high accuracy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US" sz="2200">
                <a:solidFill>
                  <a:srgbClr val="595959"/>
                </a:solidFill>
              </a:rPr>
              <a:t>RNNs</a:t>
            </a:r>
            <a:endParaRPr sz="2200">
              <a:solidFill>
                <a:srgbClr val="595959"/>
              </a:solidFill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○"/>
            </a:pPr>
            <a:r>
              <a:rPr lang="en-US" sz="2200">
                <a:solidFill>
                  <a:srgbClr val="595959"/>
                </a:solidFill>
              </a:rPr>
              <a:t>More complex, higher computational cost for no real gain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US" sz="2200">
                <a:solidFill>
                  <a:srgbClr val="595959"/>
                </a:solidFill>
              </a:rPr>
              <a:t>Transformers</a:t>
            </a:r>
            <a:endParaRPr sz="2200">
              <a:solidFill>
                <a:srgbClr val="595959"/>
              </a:solidFill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○"/>
            </a:pPr>
            <a:r>
              <a:rPr lang="en-US" sz="2200">
                <a:solidFill>
                  <a:srgbClr val="595959"/>
                </a:solidFill>
              </a:rPr>
              <a:t>Best accuracy, but highest computational cost</a:t>
            </a:r>
            <a:endParaRPr sz="22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rgbClr val="595959"/>
              </a:solidFill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1120675" y="4835925"/>
            <a:ext cx="10317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595959"/>
                </a:solidFill>
              </a:rPr>
              <a:t>Practicality Depends on Use Case</a:t>
            </a:r>
            <a:endParaRPr sz="1700" b="1">
              <a:solidFill>
                <a:srgbClr val="595959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-US" sz="1700" b="1">
                <a:solidFill>
                  <a:srgbClr val="595959"/>
                </a:solidFill>
              </a:rPr>
              <a:t>High-stakes classification = Transformer; Fast and efficient deployment = Logistic Regression</a:t>
            </a:r>
            <a:endParaRPr sz="17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007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Recommended Baseline: TF-IDF + Logistic Regression architecture</a:t>
            </a:r>
            <a:endParaRPr sz="220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High accuracy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Transparent decision rules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Minimal infrastructure requirements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Trains in seconds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Business-Oriented Recommendations</a:t>
            </a: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6370725" y="1690625"/>
            <a:ext cx="5821200" cy="22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95959"/>
                </a:solidFill>
              </a:rPr>
              <a:t>When to Consider Transformers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US" sz="2200">
                <a:solidFill>
                  <a:srgbClr val="595959"/>
                </a:solidFill>
              </a:rPr>
              <a:t>Premium content recommendations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US" sz="2200">
                <a:solidFill>
                  <a:srgbClr val="595959"/>
                </a:solidFill>
              </a:rPr>
              <a:t>High-precision classification tasks</a:t>
            </a:r>
            <a:endParaRPr sz="2200">
              <a:solidFill>
                <a:srgbClr val="595959"/>
              </a:solidFill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US" sz="2200">
                <a:solidFill>
                  <a:srgbClr val="595959"/>
                </a:solidFill>
              </a:rPr>
              <a:t>Scenarios where marginal accuracy gains justify cost</a:t>
            </a:r>
            <a:endParaRPr sz="22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rgbClr val="595959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1120675" y="4835925"/>
            <a:ext cx="10317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595959"/>
                </a:solidFill>
              </a:rPr>
              <a:t>Strategic Guidance</a:t>
            </a:r>
            <a:endParaRPr sz="1700" b="1">
              <a:solidFill>
                <a:srgbClr val="595959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-US" sz="1700" b="1">
                <a:solidFill>
                  <a:srgbClr val="595959"/>
                </a:solidFill>
              </a:rPr>
              <a:t>Start simple &amp; scale complexity only when business value demands it</a:t>
            </a:r>
            <a:endParaRPr sz="1700" b="1">
              <a:solidFill>
                <a:srgbClr val="595959"/>
              </a:solidFill>
            </a:endParaRPr>
          </a:p>
        </p:txBody>
      </p:sp>
      <p:pic>
        <p:nvPicPr>
          <p:cNvPr id="135" name="Google Shape;135;p23" title="Screenshot 2026-03-07 at 6.01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925" y="3523375"/>
            <a:ext cx="2824625" cy="158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47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Clean preprocessing pipelines matter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Linear models remain competitive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Deep learning is powerful but computationally expensive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Modeling selection is a </a:t>
            </a:r>
            <a:r>
              <a:rPr lang="en-US" i="1"/>
              <a:t>strategic </a:t>
            </a:r>
            <a:r>
              <a:rPr lang="en-US"/>
              <a:t>decision, not just a technical one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/>
              <a:t>FINAL TAKEAWAY:</a:t>
            </a:r>
            <a:r>
              <a:rPr lang="en-US"/>
              <a:t>A well-tuned Logistic Regression model offers the best balance of accuracy, interpretability, and efficiency, while Transformers provide the premium selection when cost is no barrier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854337" y="715617"/>
            <a:ext cx="10483200" cy="975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pic>
        <p:nvPicPr>
          <p:cNvPr id="142" name="Google Shape;142;p24" title="Screenshot 2026-03-07 at 6.04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345" y="365426"/>
            <a:ext cx="2861675" cy="225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Macintosh PowerPoint</Application>
  <PresentationFormat>Widescreen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TEXT CLASSIFICATION WITH MACHINE LEARNING</vt:lpstr>
      <vt:lpstr>Business Problem &amp; Objectives</vt:lpstr>
      <vt:lpstr>Project Goals</vt:lpstr>
      <vt:lpstr>Data Overview</vt:lpstr>
      <vt:lpstr>Preprocessing &amp; Design: Baseline Models</vt:lpstr>
      <vt:lpstr>Preprocessing &amp; Design: Baseline Models</vt:lpstr>
      <vt:lpstr>Preprocessing &amp; Design: Deep Learning</vt:lpstr>
      <vt:lpstr>Baseline Model Results</vt:lpstr>
      <vt:lpstr>RNN (LSTM) Results</vt:lpstr>
      <vt:lpstr>Transformer (RoBERTa) Results</vt:lpstr>
      <vt:lpstr>Cross-Model Insights</vt:lpstr>
      <vt:lpstr>Business-Oriented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 Beck</cp:lastModifiedBy>
  <cp:revision>1</cp:revision>
  <dcterms:modified xsi:type="dcterms:W3CDTF">2026-03-10T18:25:47Z</dcterms:modified>
</cp:coreProperties>
</file>